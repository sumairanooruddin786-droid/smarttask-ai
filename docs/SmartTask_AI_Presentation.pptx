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55d4dabe-d75f-cf8c-8664-5fd005c537d1}">
          <p14:sldIdLst>
            <p14:sldId id="256"/>
          </p14:sldIdLst>
        </p14:section>
        <p14:section name="Concept" id="{d3a2cd1c-ff3b-7be8-42d6-4b49cb1783ec}">
          <p14:sldIdLst>
            <p14:sldId id="257"/>
            <p14:sldId id="258"/>
          </p14:sldIdLst>
        </p14:section>
        <p14:section name="Implementation" id="{2db770d4-5f30-ff02-00df-e3a51c2d2235}">
          <p14:sldIdLst>
            <p14:sldId id="259"/>
            <p14:sldId id="260"/>
            <p14:sldId id="261"/>
          </p14:sldIdLst>
        </p14:section>
        <p14:section name="Results" id="{419e19a1-a95d-f9fa-d520-201e0f70ce75}">
          <p14:sldIdLst>
            <p14:sldId id="262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SmartTask AI converts informal task messages into a prioritized to-do list.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why informal text is hard to act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five boxes left to right.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that Node 3 is deterministic code, which saves an API call.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Briefly say why each tool was chosen.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live UI here if possible.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Reasons returned by Gemini may vary slightly between runs.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one-sentence takeaway, then take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chemeClr val="accent1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54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SmartTask AI</a:t>
            </a:r>
            <a:endParaRPr lang="en-US" sz="1000" dirty="0"/>
          </a:p>
        </p:txBody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40080" y="118872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SmartTask AI</a:t>
            </a:r>
            <a:endParaRPr lang="en-US" sz="5400" dirty="0"/>
          </a:p>
        </p:txBody>
      </p:sp>
      <p:sp>
        <p:nvSpPr>
          <p:cNvPr id="3" name="Subtitle"/>
          <p:cNvSpPr txBox="1"/>
          <p:nvPr/>
        </p:nvSpPr>
        <p:spPr>
          <a:xfrm>
            <a:off x="640080" y="22402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Turn messy to-do messages into an organized, prioritized task list</a:t>
            </a:r>
            <a:endParaRPr lang="en-US" sz="2000" dirty="0"/>
          </a:p>
        </p:txBody>
      </p:sp>
      <p:sp>
        <p:nvSpPr>
          <p:cNvPr id="4" name="Tech line"/>
          <p:cNvSpPr txBox="1"/>
          <p:nvPr/>
        </p:nvSpPr>
        <p:spPr>
          <a:xfrm>
            <a:off x="640080" y="30175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2"/>
                </a:solidFill>
              </a:rPr>
              <a:t>LangGraph  •  Google Gemini  •  FastAPI</a:t>
            </a:r>
            <a:endParaRPr lang="en-US" sz="1600" dirty="0"/>
          </a:p>
        </p:txBody>
      </p:sp>
      <p:sp>
        <p:nvSpPr>
          <p:cNvPr id="5" name="Presenter"/>
          <p:cNvSpPr txBox="1"/>
          <p:nvPr/>
        </p:nvSpPr>
        <p:spPr>
          <a:xfrm>
            <a:off x="640080" y="45720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Presented by: ____________________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The Problem</a:t>
            </a:r>
            <a:endParaRPr lang="en-US" sz="2800" dirty="0"/>
          </a:p>
        </p:txBody>
      </p:sp>
      <p:sp>
        <p:nvSpPr>
          <p:cNvPr id="3" name="Quote card"/>
          <p:cNvSpPr/>
          <p:nvPr/>
        </p:nvSpPr>
        <p:spPr>
          <a:xfrm>
            <a:off x="457200" y="1188720"/>
            <a:ext cx="3931920" cy="2011680"/>
          </a:xfrm>
          <a:prstGeom prst="roundRect">
            <a:avLst>
              <a:gd name="adj" fmla="val 363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Quote"/>
          <p:cNvSpPr txBox="1"/>
          <p:nvPr/>
        </p:nvSpPr>
        <p:spPr>
          <a:xfrm>
            <a:off x="685800" y="1325880"/>
            <a:ext cx="3474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chemeClr val="bg1"/>
                </a:solidFill>
              </a:rPr>
              <a:t>“I need to finish my assignment tomorrow, buy groceries today, and prepare for my meeting next week.”</a:t>
            </a:r>
            <a:endParaRPr lang="en-US" sz="1700" dirty="0"/>
          </a:p>
        </p:txBody>
      </p:sp>
      <p:sp>
        <p:nvSpPr>
          <p:cNvPr id="5" name="Quote caption"/>
          <p:cNvSpPr txBox="1"/>
          <p:nvPr/>
        </p:nvSpPr>
        <p:spPr>
          <a:xfrm>
            <a:off x="457200" y="338328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People think in sentences, not in structured lists.</a:t>
            </a:r>
            <a:endParaRPr lang="en-US" sz="1400" dirty="0"/>
          </a:p>
        </p:txBody>
      </p:sp>
      <p:sp>
        <p:nvSpPr>
          <p:cNvPr id="6" name="Problem 1 card"/>
          <p:cNvSpPr/>
          <p:nvPr/>
        </p:nvSpPr>
        <p:spPr>
          <a:xfrm>
            <a:off x="4754880" y="1188720"/>
            <a:ext cx="3931920" cy="896112"/>
          </a:xfrm>
          <a:prstGeom prst="roundRect">
            <a:avLst>
              <a:gd name="adj" fmla="val 8163"/>
            </a:avLst>
          </a:prstGeom>
          <a:solidFill>
            <a:schemeClr val="bg2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7" name="Problem 1 accent"/>
          <p:cNvSpPr/>
          <p:nvPr/>
        </p:nvSpPr>
        <p:spPr>
          <a:xfrm>
            <a:off x="4754880" y="1353312"/>
            <a:ext cx="64008" cy="41148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Problem 1 title"/>
          <p:cNvSpPr txBox="1"/>
          <p:nvPr/>
        </p:nvSpPr>
        <p:spPr>
          <a:xfrm>
            <a:off x="4956048" y="1298448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3 separate tasks</a:t>
            </a:r>
            <a:endParaRPr lang="en-US" sz="1500" dirty="0"/>
          </a:p>
        </p:txBody>
      </p:sp>
      <p:sp>
        <p:nvSpPr>
          <p:cNvPr id="9" name="Problem 1 body"/>
          <p:cNvSpPr txBox="1"/>
          <p:nvPr/>
        </p:nvSpPr>
        <p:spPr>
          <a:xfrm>
            <a:off x="4956048" y="1810512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Hidden inside a single sentence.</a:t>
            </a:r>
            <a:endParaRPr lang="en-US" sz="1200" dirty="0"/>
          </a:p>
        </p:txBody>
      </p:sp>
      <p:sp>
        <p:nvSpPr>
          <p:cNvPr id="10" name="Problem 2 card"/>
          <p:cNvSpPr/>
          <p:nvPr/>
        </p:nvSpPr>
        <p:spPr>
          <a:xfrm>
            <a:off x="4754880" y="2212848"/>
            <a:ext cx="3931920" cy="896112"/>
          </a:xfrm>
          <a:prstGeom prst="roundRect">
            <a:avLst>
              <a:gd name="adj" fmla="val 8163"/>
            </a:avLst>
          </a:prstGeom>
          <a:solidFill>
            <a:schemeClr val="bg2"/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11" name="Problem 2 accent"/>
          <p:cNvSpPr/>
          <p:nvPr/>
        </p:nvSpPr>
        <p:spPr>
          <a:xfrm>
            <a:off x="4754880" y="2377440"/>
            <a:ext cx="64008" cy="41148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Problem 2 title"/>
          <p:cNvSpPr txBox="1"/>
          <p:nvPr/>
        </p:nvSpPr>
        <p:spPr>
          <a:xfrm>
            <a:off x="4956048" y="2322576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3 different deadlines</a:t>
            </a:r>
            <a:endParaRPr lang="en-US" sz="1500" dirty="0"/>
          </a:p>
        </p:txBody>
      </p:sp>
      <p:sp>
        <p:nvSpPr>
          <p:cNvPr id="13" name="Problem 2 body"/>
          <p:cNvSpPr txBox="1"/>
          <p:nvPr/>
        </p:nvSpPr>
        <p:spPr>
          <a:xfrm>
            <a:off x="4956048" y="2834640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Today, tomorrow and next week.</a:t>
            </a:r>
            <a:endParaRPr lang="en-US" sz="1200" dirty="0"/>
          </a:p>
        </p:txBody>
      </p:sp>
      <p:sp>
        <p:nvSpPr>
          <p:cNvPr id="14" name="Problem 3 card"/>
          <p:cNvSpPr/>
          <p:nvPr/>
        </p:nvSpPr>
        <p:spPr>
          <a:xfrm>
            <a:off x="4754880" y="3236976"/>
            <a:ext cx="3931920" cy="896112"/>
          </a:xfrm>
          <a:prstGeom prst="roundRect">
            <a:avLst>
              <a:gd name="adj" fmla="val 8163"/>
            </a:avLst>
          </a:prstGeom>
          <a:solidFill>
            <a:schemeClr val="bg2"/>
          </a:solidFill>
          <a:ln w="15875">
            <a:solidFill>
              <a:schemeClr val="accent6"/>
            </a:solidFill>
            <a:prstDash val="solid"/>
          </a:ln>
        </p:spPr>
      </p:sp>
      <p:sp>
        <p:nvSpPr>
          <p:cNvPr id="15" name="Problem 3 accent"/>
          <p:cNvSpPr/>
          <p:nvPr/>
        </p:nvSpPr>
        <p:spPr>
          <a:xfrm>
            <a:off x="4754880" y="3401568"/>
            <a:ext cx="64008" cy="411480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6" name="Problem 3 title"/>
          <p:cNvSpPr txBox="1"/>
          <p:nvPr/>
        </p:nvSpPr>
        <p:spPr>
          <a:xfrm>
            <a:off x="4956048" y="3346704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6"/>
                </a:solidFill>
              </a:rPr>
              <a:t>No clear order</a:t>
            </a:r>
            <a:endParaRPr lang="en-US" sz="1500" dirty="0"/>
          </a:p>
        </p:txBody>
      </p:sp>
      <p:sp>
        <p:nvSpPr>
          <p:cNvPr id="17" name="Problem 3 body"/>
          <p:cNvSpPr txBox="1"/>
          <p:nvPr/>
        </p:nvSpPr>
        <p:spPr>
          <a:xfrm>
            <a:off x="4956048" y="3858768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What should be done first?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Workflow Architecture</a:t>
            </a:r>
            <a:endParaRPr lang="en-US" sz="2800" dirty="0"/>
          </a:p>
        </p:txBody>
      </p:sp>
      <p:pic>
        <p:nvPicPr>
          <p:cNvPr id="3" name="Workflow diagram" descr="User input, extraction, prioritization, formatting, organized lis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34440"/>
            <a:ext cx="8229600" cy="2286000"/>
          </a:xfrm>
          <a:prstGeom prst="rect">
            <a:avLst/>
          </a:prstGeom>
        </p:spPr>
      </p:pic>
      <p:sp>
        <p:nvSpPr>
          <p:cNvPr id="4" name="Workflow caption"/>
          <p:cNvSpPr txBox="1"/>
          <p:nvPr/>
        </p:nvSpPr>
        <p:spPr>
          <a:xfrm>
            <a:off x="457200" y="3749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LangGraph connects the nodes and passes a shared state from one step to the next.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What Each Node Does</a:t>
            </a:r>
            <a:endParaRPr lang="en-US" sz="2800" dirty="0"/>
          </a:p>
        </p:txBody>
      </p:sp>
      <p:sp>
        <p:nvSpPr>
          <p:cNvPr id="3" name="Node 1 card"/>
          <p:cNvSpPr/>
          <p:nvPr/>
        </p:nvSpPr>
        <p:spPr>
          <a:xfrm>
            <a:off x="457200" y="1234440"/>
            <a:ext cx="2606040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4" name="Node 1 accent"/>
          <p:cNvSpPr/>
          <p:nvPr/>
        </p:nvSpPr>
        <p:spPr>
          <a:xfrm>
            <a:off x="457200" y="1399032"/>
            <a:ext cx="64008" cy="41148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Node 1 title"/>
          <p:cNvSpPr txBox="1"/>
          <p:nvPr/>
        </p:nvSpPr>
        <p:spPr>
          <a:xfrm>
            <a:off x="658368" y="134416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Node 1: Extraction</a:t>
            </a:r>
            <a:endParaRPr lang="en-US" sz="1500" dirty="0"/>
          </a:p>
        </p:txBody>
      </p:sp>
      <p:sp>
        <p:nvSpPr>
          <p:cNvPr id="6" name="Node 1 body"/>
          <p:cNvSpPr txBox="1"/>
          <p:nvPr/>
        </p:nvSpPr>
        <p:spPr>
          <a:xfrm>
            <a:off x="658368" y="1856232"/>
            <a:ext cx="2240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Gemini splits the message into individual tasks and keeps the deadline phrase of each one.</a:t>
            </a:r>
            <a:endParaRPr lang="en-US" sz="1400" dirty="0"/>
          </a:p>
        </p:txBody>
      </p:sp>
      <p:sp>
        <p:nvSpPr>
          <p:cNvPr id="7" name="Node 2 card"/>
          <p:cNvSpPr/>
          <p:nvPr/>
        </p:nvSpPr>
        <p:spPr>
          <a:xfrm>
            <a:off x="3246120" y="1234440"/>
            <a:ext cx="2606040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8" name="Node 2 accent"/>
          <p:cNvSpPr/>
          <p:nvPr/>
        </p:nvSpPr>
        <p:spPr>
          <a:xfrm>
            <a:off x="3246120" y="1399032"/>
            <a:ext cx="64008" cy="41148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Node 2 title"/>
          <p:cNvSpPr txBox="1"/>
          <p:nvPr/>
        </p:nvSpPr>
        <p:spPr>
          <a:xfrm>
            <a:off x="3447288" y="134416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Node 2: Prioritization</a:t>
            </a:r>
            <a:endParaRPr lang="en-US" sz="1500" dirty="0"/>
          </a:p>
        </p:txBody>
      </p:sp>
      <p:sp>
        <p:nvSpPr>
          <p:cNvPr id="10" name="Node 2 body"/>
          <p:cNvSpPr txBox="1"/>
          <p:nvPr/>
        </p:nvSpPr>
        <p:spPr>
          <a:xfrm>
            <a:off x="3447288" y="1856232"/>
            <a:ext cx="2240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Gemini labels every task High, Medium or Low and gives a one-line reason.</a:t>
            </a:r>
            <a:endParaRPr lang="en-US" sz="1400" dirty="0"/>
          </a:p>
        </p:txBody>
      </p:sp>
      <p:sp>
        <p:nvSpPr>
          <p:cNvPr id="11" name="Node 3 card"/>
          <p:cNvSpPr/>
          <p:nvPr/>
        </p:nvSpPr>
        <p:spPr>
          <a:xfrm>
            <a:off x="6035040" y="1234440"/>
            <a:ext cx="2606040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5875">
            <a:solidFill>
              <a:schemeClr val="accent4"/>
            </a:solidFill>
            <a:prstDash val="solid"/>
          </a:ln>
        </p:spPr>
      </p:sp>
      <p:sp>
        <p:nvSpPr>
          <p:cNvPr id="12" name="Node 3 accent"/>
          <p:cNvSpPr/>
          <p:nvPr/>
        </p:nvSpPr>
        <p:spPr>
          <a:xfrm>
            <a:off x="6035040" y="1399032"/>
            <a:ext cx="64008" cy="41148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3" name="Node 3 title"/>
          <p:cNvSpPr txBox="1"/>
          <p:nvPr/>
        </p:nvSpPr>
        <p:spPr>
          <a:xfrm>
            <a:off x="6236208" y="134416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Node 3: Formatting</a:t>
            </a:r>
            <a:endParaRPr lang="en-US" sz="1500" dirty="0"/>
          </a:p>
        </p:txBody>
      </p:sp>
      <p:sp>
        <p:nvSpPr>
          <p:cNvPr id="14" name="Node 3 body"/>
          <p:cNvSpPr txBox="1"/>
          <p:nvPr/>
        </p:nvSpPr>
        <p:spPr>
          <a:xfrm>
            <a:off x="6236208" y="1856232"/>
            <a:ext cx="2240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Plain Python groups tasks by priority and builds the readable list. No LLM call needed.</a:t>
            </a:r>
            <a:endParaRPr lang="en-US" sz="1400" dirty="0"/>
          </a:p>
        </p:txBody>
      </p:sp>
      <p:sp>
        <p:nvSpPr>
          <p:cNvPr id="15" name="Node footnote"/>
          <p:cNvSpPr txBox="1"/>
          <p:nvPr/>
        </p:nvSpPr>
        <p:spPr>
          <a:xfrm>
            <a:off x="457200" y="3886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Structured output (Pydantic schemas) keeps Gemini's answers valid and easy to parse.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Technology Stack</a:t>
            </a:r>
            <a:endParaRPr lang="en-US" sz="2800" dirty="0"/>
          </a:p>
        </p:txBody>
      </p:sp>
      <p:sp>
        <p:nvSpPr>
          <p:cNvPr id="3" name="Tech 1 card"/>
          <p:cNvSpPr/>
          <p:nvPr/>
        </p:nvSpPr>
        <p:spPr>
          <a:xfrm>
            <a:off x="457200" y="1234440"/>
            <a:ext cx="402336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4" name="Tech 1 accent"/>
          <p:cNvSpPr/>
          <p:nvPr/>
        </p:nvSpPr>
        <p:spPr>
          <a:xfrm>
            <a:off x="457200" y="1399032"/>
            <a:ext cx="64008" cy="41148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ch 1 title"/>
          <p:cNvSpPr txBox="1"/>
          <p:nvPr/>
        </p:nvSpPr>
        <p:spPr>
          <a:xfrm>
            <a:off x="658368" y="1344168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LangGraph</a:t>
            </a:r>
            <a:endParaRPr lang="en-US" sz="1500" dirty="0"/>
          </a:p>
        </p:txBody>
      </p:sp>
      <p:sp>
        <p:nvSpPr>
          <p:cNvPr id="6" name="Tech 1 body"/>
          <p:cNvSpPr txBox="1"/>
          <p:nvPr/>
        </p:nvSpPr>
        <p:spPr>
          <a:xfrm>
            <a:off x="658368" y="1856232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Workflow graph and shared state.</a:t>
            </a:r>
            <a:endParaRPr lang="en-US" sz="1400" dirty="0"/>
          </a:p>
        </p:txBody>
      </p:sp>
      <p:sp>
        <p:nvSpPr>
          <p:cNvPr id="7" name="Tech 2 card"/>
          <p:cNvSpPr/>
          <p:nvPr/>
        </p:nvSpPr>
        <p:spPr>
          <a:xfrm>
            <a:off x="4663440" y="1234440"/>
            <a:ext cx="402336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8" name="Tech 2 accent"/>
          <p:cNvSpPr/>
          <p:nvPr/>
        </p:nvSpPr>
        <p:spPr>
          <a:xfrm>
            <a:off x="4663440" y="1399032"/>
            <a:ext cx="64008" cy="41148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ch 2 title"/>
          <p:cNvSpPr txBox="1"/>
          <p:nvPr/>
        </p:nvSpPr>
        <p:spPr>
          <a:xfrm>
            <a:off x="4864608" y="1344168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Google Gemini</a:t>
            </a:r>
            <a:endParaRPr lang="en-US" sz="1500" dirty="0"/>
          </a:p>
        </p:txBody>
      </p:sp>
      <p:sp>
        <p:nvSpPr>
          <p:cNvPr id="10" name="Tech 2 body"/>
          <p:cNvSpPr txBox="1"/>
          <p:nvPr/>
        </p:nvSpPr>
        <p:spPr>
          <a:xfrm>
            <a:off x="4864608" y="1856232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Understands informal language.</a:t>
            </a:r>
            <a:endParaRPr lang="en-US" sz="1400" dirty="0"/>
          </a:p>
        </p:txBody>
      </p:sp>
      <p:sp>
        <p:nvSpPr>
          <p:cNvPr id="11" name="Tech 3 card"/>
          <p:cNvSpPr/>
          <p:nvPr/>
        </p:nvSpPr>
        <p:spPr>
          <a:xfrm>
            <a:off x="457200" y="2834640"/>
            <a:ext cx="402336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5875">
            <a:solidFill>
              <a:schemeClr val="accent4"/>
            </a:solidFill>
            <a:prstDash val="solid"/>
          </a:ln>
        </p:spPr>
      </p:sp>
      <p:sp>
        <p:nvSpPr>
          <p:cNvPr id="12" name="Tech 3 accent"/>
          <p:cNvSpPr/>
          <p:nvPr/>
        </p:nvSpPr>
        <p:spPr>
          <a:xfrm>
            <a:off x="457200" y="2999232"/>
            <a:ext cx="64008" cy="41148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3" name="Tech 3 title"/>
          <p:cNvSpPr txBox="1"/>
          <p:nvPr/>
        </p:nvSpPr>
        <p:spPr>
          <a:xfrm>
            <a:off x="658368" y="2944368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FastAPI</a:t>
            </a:r>
            <a:endParaRPr lang="en-US" sz="1500" dirty="0"/>
          </a:p>
        </p:txBody>
      </p:sp>
      <p:sp>
        <p:nvSpPr>
          <p:cNvPr id="14" name="Tech 3 body"/>
          <p:cNvSpPr txBox="1"/>
          <p:nvPr/>
        </p:nvSpPr>
        <p:spPr>
          <a:xfrm>
            <a:off x="658368" y="3456432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REST API: POST /api/organize.</a:t>
            </a:r>
            <a:endParaRPr lang="en-US" sz="1400" dirty="0"/>
          </a:p>
        </p:txBody>
      </p:sp>
      <p:sp>
        <p:nvSpPr>
          <p:cNvPr id="15" name="Tech 4 card"/>
          <p:cNvSpPr/>
          <p:nvPr/>
        </p:nvSpPr>
        <p:spPr>
          <a:xfrm>
            <a:off x="4663440" y="2834640"/>
            <a:ext cx="402336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5875">
            <a:solidFill>
              <a:schemeClr val="accent5"/>
            </a:solidFill>
            <a:prstDash val="solid"/>
          </a:ln>
        </p:spPr>
      </p:sp>
      <p:sp>
        <p:nvSpPr>
          <p:cNvPr id="16" name="Tech 4 accent"/>
          <p:cNvSpPr/>
          <p:nvPr/>
        </p:nvSpPr>
        <p:spPr>
          <a:xfrm>
            <a:off x="4663440" y="2999232"/>
            <a:ext cx="64008" cy="411480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7" name="Tech 4 title"/>
          <p:cNvSpPr txBox="1"/>
          <p:nvPr/>
        </p:nvSpPr>
        <p:spPr>
          <a:xfrm>
            <a:off x="4864608" y="2944368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5"/>
                </a:solidFill>
              </a:rPr>
              <a:t>HTML / CSS / JS</a:t>
            </a:r>
            <a:endParaRPr lang="en-US" sz="1500" dirty="0"/>
          </a:p>
        </p:txBody>
      </p:sp>
      <p:sp>
        <p:nvSpPr>
          <p:cNvPr id="18" name="Tech 4 body"/>
          <p:cNvSpPr txBox="1"/>
          <p:nvPr/>
        </p:nvSpPr>
        <p:spPr>
          <a:xfrm>
            <a:off x="4864608" y="3456432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Responsive web interface.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Web Interface</a:t>
            </a:r>
            <a:endParaRPr lang="en-US" sz="2800" dirty="0"/>
          </a:p>
        </p:txBody>
      </p:sp>
      <p:sp>
        <p:nvSpPr>
          <p:cNvPr id="3" name="UI features"/>
          <p:cNvSpPr txBox="1"/>
          <p:nvPr/>
        </p:nvSpPr>
        <p:spPr>
          <a:xfrm>
            <a:off x="457200" y="1280160"/>
            <a:ext cx="4572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Type or pick an example message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One click: Organize my tasks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Three color-coded columns: High, Medium, Low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Deadline tag and reason on every task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Checkboxes and “Copy as text” button</a:t>
            </a:r>
            <a:endParaRPr lang="en-US" sz="1600" dirty="0"/>
          </a:p>
        </p:txBody>
      </p:sp>
      <p:sp>
        <p:nvSpPr>
          <p:cNvPr id="4" name="High column"/>
          <p:cNvSpPr/>
          <p:nvPr/>
        </p:nvSpPr>
        <p:spPr>
          <a:xfrm>
            <a:off x="5394960" y="1280160"/>
            <a:ext cx="1097280" cy="274320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5875">
            <a:solidFill>
              <a:schemeClr val="accent6"/>
            </a:solidFill>
            <a:prstDash val="solid"/>
          </a:ln>
        </p:spPr>
      </p:sp>
      <p:sp>
        <p:nvSpPr>
          <p:cNvPr id="5" name="High label"/>
          <p:cNvSpPr txBox="1"/>
          <p:nvPr/>
        </p:nvSpPr>
        <p:spPr>
          <a:xfrm>
            <a:off x="5394960" y="135331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High</a:t>
            </a:r>
            <a:endParaRPr lang="en-US" sz="1300" dirty="0"/>
          </a:p>
        </p:txBody>
      </p:sp>
      <p:sp>
        <p:nvSpPr>
          <p:cNvPr id="6" name="High task 0"/>
          <p:cNvSpPr/>
          <p:nvPr/>
        </p:nvSpPr>
        <p:spPr>
          <a:xfrm>
            <a:off x="5468112" y="1828800"/>
            <a:ext cx="950976" cy="566928"/>
          </a:xfrm>
          <a:prstGeom prst="roundRect">
            <a:avLst>
              <a:gd name="adj" fmla="val 8065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7" name="High task 1"/>
          <p:cNvSpPr/>
          <p:nvPr/>
        </p:nvSpPr>
        <p:spPr>
          <a:xfrm>
            <a:off x="5468112" y="2514600"/>
            <a:ext cx="950976" cy="566928"/>
          </a:xfrm>
          <a:prstGeom prst="roundRect">
            <a:avLst>
              <a:gd name="adj" fmla="val 8065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8" name="Medium column"/>
          <p:cNvSpPr/>
          <p:nvPr/>
        </p:nvSpPr>
        <p:spPr>
          <a:xfrm>
            <a:off x="6583680" y="1280160"/>
            <a:ext cx="1097280" cy="274320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9" name="Medium label"/>
          <p:cNvSpPr txBox="1"/>
          <p:nvPr/>
        </p:nvSpPr>
        <p:spPr>
          <a:xfrm>
            <a:off x="6583680" y="135331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Medium</a:t>
            </a:r>
            <a:endParaRPr lang="en-US" sz="1300" dirty="0"/>
          </a:p>
        </p:txBody>
      </p:sp>
      <p:sp>
        <p:nvSpPr>
          <p:cNvPr id="10" name="Medium task 0"/>
          <p:cNvSpPr/>
          <p:nvPr/>
        </p:nvSpPr>
        <p:spPr>
          <a:xfrm>
            <a:off x="6656832" y="1828800"/>
            <a:ext cx="950976" cy="566928"/>
          </a:xfrm>
          <a:prstGeom prst="roundRect">
            <a:avLst>
              <a:gd name="adj" fmla="val 8065"/>
            </a:avLst>
          </a:prstGeom>
          <a:solidFill>
            <a:schemeClr val="bg1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11" name="Low column"/>
          <p:cNvSpPr/>
          <p:nvPr/>
        </p:nvSpPr>
        <p:spPr>
          <a:xfrm>
            <a:off x="7772400" y="1280160"/>
            <a:ext cx="1097280" cy="274320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5875">
            <a:solidFill>
              <a:schemeClr val="accent4"/>
            </a:solidFill>
            <a:prstDash val="solid"/>
          </a:ln>
        </p:spPr>
      </p:sp>
      <p:sp>
        <p:nvSpPr>
          <p:cNvPr id="12" name="Low label"/>
          <p:cNvSpPr txBox="1"/>
          <p:nvPr/>
        </p:nvSpPr>
        <p:spPr>
          <a:xfrm>
            <a:off x="7772400" y="135331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Low</a:t>
            </a:r>
            <a:endParaRPr lang="en-US" sz="1300" dirty="0"/>
          </a:p>
        </p:txBody>
      </p:sp>
      <p:sp>
        <p:nvSpPr>
          <p:cNvPr id="13" name="Low task 0"/>
          <p:cNvSpPr/>
          <p:nvPr/>
        </p:nvSpPr>
        <p:spPr>
          <a:xfrm>
            <a:off x="7845552" y="1828800"/>
            <a:ext cx="950976" cy="566928"/>
          </a:xfrm>
          <a:prstGeom prst="roundRect">
            <a:avLst>
              <a:gd name="adj" fmla="val 8065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Example: Input and Output</a:t>
            </a:r>
            <a:endParaRPr lang="en-US" sz="2800" dirty="0"/>
          </a:p>
        </p:txBody>
      </p:sp>
      <p:sp>
        <p:nvSpPr>
          <p:cNvPr id="3" name="Input label"/>
          <p:cNvSpPr txBox="1"/>
          <p:nvPr/>
        </p:nvSpPr>
        <p:spPr>
          <a:xfrm>
            <a:off x="457200" y="1188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INPUT</a:t>
            </a:r>
            <a:endParaRPr lang="en-US" sz="1200" dirty="0"/>
          </a:p>
        </p:txBody>
      </p:sp>
      <p:sp>
        <p:nvSpPr>
          <p:cNvPr id="4" name="Input box"/>
          <p:cNvSpPr/>
          <p:nvPr/>
        </p:nvSpPr>
        <p:spPr>
          <a:xfrm>
            <a:off x="457200" y="1508760"/>
            <a:ext cx="356616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Input text"/>
          <p:cNvSpPr txBox="1"/>
          <p:nvPr/>
        </p:nvSpPr>
        <p:spPr>
          <a:xfrm>
            <a:off x="640080" y="1645920"/>
            <a:ext cx="3200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I need to finish my assignment tomorrow, buy groceries today, and prepare for my meeting next week.</a:t>
            </a:r>
            <a:endParaRPr lang="en-US" sz="1500" dirty="0"/>
          </a:p>
        </p:txBody>
      </p:sp>
      <p:sp>
        <p:nvSpPr>
          <p:cNvPr id="6" name="Output label"/>
          <p:cNvSpPr txBox="1"/>
          <p:nvPr/>
        </p:nvSpPr>
        <p:spPr>
          <a:xfrm>
            <a:off x="4480560" y="1188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OUTPUT</a:t>
            </a:r>
            <a:endParaRPr lang="en-US" sz="1200" dirty="0"/>
          </a:p>
        </p:txBody>
      </p:sp>
      <p:graphicFrame>
        <p:nvGraphicFramePr>
          <p:cNvPr id="8" name="Result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480560" y="1508760"/>
          <a:ext cx="420624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2011680"/>
                <a:gridCol w="11887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Priority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Task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Due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6"/>
                          </a:solidFill>
                        </a:rPr>
                        <a:t>High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Buy groceries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today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6"/>
                          </a:solidFill>
                        </a:rPr>
                        <a:t>High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Finish assignment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tomorrow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3"/>
                          </a:solidFill>
                        </a:rPr>
                        <a:t>Medium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Prepare for meeting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next week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Limitations, Future Work and Conclusion</a:t>
            </a:r>
            <a:endParaRPr lang="en-US" sz="2800" dirty="0"/>
          </a:p>
        </p:txBody>
      </p:sp>
      <p:sp>
        <p:nvSpPr>
          <p:cNvPr id="3" name="Limits card"/>
          <p:cNvSpPr/>
          <p:nvPr/>
        </p:nvSpPr>
        <p:spPr>
          <a:xfrm>
            <a:off x="457200" y="1234440"/>
            <a:ext cx="402336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4" name="Limits accent"/>
          <p:cNvSpPr/>
          <p:nvPr/>
        </p:nvSpPr>
        <p:spPr>
          <a:xfrm>
            <a:off x="457200" y="1399032"/>
            <a:ext cx="64008" cy="41148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Limits title"/>
          <p:cNvSpPr txBox="1"/>
          <p:nvPr/>
        </p:nvSpPr>
        <p:spPr>
          <a:xfrm>
            <a:off x="658368" y="1344168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Limitations</a:t>
            </a:r>
            <a:endParaRPr lang="en-US" sz="1500" dirty="0"/>
          </a:p>
        </p:txBody>
      </p:sp>
      <p:sp>
        <p:nvSpPr>
          <p:cNvPr id="6" name="Limits body"/>
          <p:cNvSpPr txBox="1"/>
          <p:nvPr/>
        </p:nvSpPr>
        <p:spPr>
          <a:xfrm>
            <a:off x="658368" y="1856232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Priority is the model's judgment.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Dates stay as text.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Tasks are not saved.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Needs internet and an API key.</a:t>
            </a:r>
            <a:endParaRPr lang="en-US" sz="1400" dirty="0"/>
          </a:p>
        </p:txBody>
      </p:sp>
      <p:sp>
        <p:nvSpPr>
          <p:cNvPr id="7" name="Future card"/>
          <p:cNvSpPr/>
          <p:nvPr/>
        </p:nvSpPr>
        <p:spPr>
          <a:xfrm>
            <a:off x="4663440" y="1234440"/>
            <a:ext cx="402336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8" name="Future accent"/>
          <p:cNvSpPr/>
          <p:nvPr/>
        </p:nvSpPr>
        <p:spPr>
          <a:xfrm>
            <a:off x="4663440" y="1399032"/>
            <a:ext cx="64008" cy="41148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Future title"/>
          <p:cNvSpPr txBox="1"/>
          <p:nvPr/>
        </p:nvSpPr>
        <p:spPr>
          <a:xfrm>
            <a:off x="4864608" y="1344168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Future work</a:t>
            </a:r>
            <a:endParaRPr lang="en-US" sz="1500" dirty="0"/>
          </a:p>
        </p:txBody>
      </p:sp>
      <p:sp>
        <p:nvSpPr>
          <p:cNvPr id="10" name="Future body"/>
          <p:cNvSpPr txBox="1"/>
          <p:nvPr/>
        </p:nvSpPr>
        <p:spPr>
          <a:xfrm>
            <a:off x="4864608" y="1856232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Real calendar dates and sorting.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Database and user accounts.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Reminders and calendar export.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Urdu / mixed-language input.</a:t>
            </a:r>
            <a:endParaRPr lang="en-US" sz="1400" dirty="0"/>
          </a:p>
        </p:txBody>
      </p:sp>
      <p:sp>
        <p:nvSpPr>
          <p:cNvPr id="11" name="Conclusion bar"/>
          <p:cNvSpPr/>
          <p:nvPr/>
        </p:nvSpPr>
        <p:spPr>
          <a:xfrm>
            <a:off x="457200" y="3566160"/>
            <a:ext cx="8229600" cy="868680"/>
          </a:xfrm>
          <a:prstGeom prst="roundRect">
            <a:avLst>
              <a:gd name="adj" fmla="val 842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2" name="Conclusion"/>
          <p:cNvSpPr txBox="1"/>
          <p:nvPr/>
        </p:nvSpPr>
        <p:spPr>
          <a:xfrm>
            <a:off x="685800" y="361188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LangGraph + Gemini + FastAPI turn everyday messy text into a clear, prioritized plan.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martTask">
  <a:themeElements>
    <a:clrScheme name="SmartTask">
      <a:dk1>
        <a:srgbClr val="1F2937"/>
      </a:dk1>
      <a:lt1>
        <a:srgbClr val="FFFFFF"/>
      </a:lt1>
      <a:dk2>
        <a:srgbClr val="312E81"/>
      </a:dk2>
      <a:lt2>
        <a:srgbClr val="EEF2FF"/>
      </a:lt2>
      <a:accent1>
        <a:srgbClr val="4F46E5"/>
      </a:accent1>
      <a:accent2>
        <a:srgbClr val="1D4ED8"/>
      </a:accent2>
      <a:accent3>
        <a:srgbClr val="B45309"/>
      </a:accent3>
      <a:accent4>
        <a:srgbClr val="15803D"/>
      </a:accent4>
      <a:accent5>
        <a:srgbClr val="7E22CE"/>
      </a:accent5>
      <a:accent6>
        <a:srgbClr val="DC2626"/>
      </a:accent6>
      <a:hlink>
        <a:srgbClr val="1D4ED8"/>
      </a:hlink>
      <a:folHlink>
        <a:srgbClr val="7E22CE"/>
      </a:folHlink>
    </a:clrScheme>
    <a:fontScheme name="SmartTask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SmartTask AI</dc:title>
  <dc:subject>PptxGenJS Presentation</dc:subject>
  <dc:creator>PptxGenJS</dc:creator>
  <cp:lastModifiedBy>PptxGenJS</cp:lastModifiedBy>
  <cp:revision>1</cp:revision>
  <dcterms:created xsi:type="dcterms:W3CDTF">2026-10-20T08:41:25Z</dcterms:created>
  <dcterms:modified xsi:type="dcterms:W3CDTF">2026-10-20T08:41:25Z</dcterms:modified>
</cp:coreProperties>
</file>